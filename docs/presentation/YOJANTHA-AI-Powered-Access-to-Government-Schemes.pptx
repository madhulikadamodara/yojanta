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Bahnschrift Light SemiCondensed" panose="020B0502040204020203" pitchFamily="34" charset="0"/>
      <p:regular r:id="rId16"/>
    </p:embeddedFont>
    <p:embeddedFont>
      <p:font typeface="Montserrat" panose="00000500000000000000" pitchFamily="2" charset="0"/>
      <p:regular r:id="rId17"/>
      <p:bold r:id="rId18"/>
      <p: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5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676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35" y="2006798"/>
            <a:ext cx="4215884" cy="4215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709" y="2711171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YOJANTHA: AI-Powered Access to Government Schemes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44709" y="4409122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 Project-I (22ITC07) | B.E. IT – IV Semester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44709" y="499955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Guided By: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Dr. Prathima Tirumalareddy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44709" y="5589984"/>
            <a:ext cx="827746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By: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Damodara Lakshmi Madhulika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(160123737144)  | </a:t>
            </a:r>
          </a:p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Dokuparthi Shravista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(160123737145)</a:t>
            </a:r>
            <a:endParaRPr lang="en-US" sz="17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336F91-C2BA-F25B-9850-E634D574E753}"/>
              </a:ext>
            </a:extLst>
          </p:cNvPr>
          <p:cNvSpPr/>
          <p:nvPr/>
        </p:nvSpPr>
        <p:spPr>
          <a:xfrm>
            <a:off x="12790449" y="7694341"/>
            <a:ext cx="1761892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9493B404-D09E-F480-7E92-9E9CFCD2878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3023158" y="78059"/>
            <a:ext cx="1066680" cy="1219320"/>
          </a:xfrm>
          <a:prstGeom prst="rect">
            <a:avLst/>
          </a:prstGeom>
          <a:ln w="0"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EE70B3-807C-0029-55A5-704290823218}"/>
              </a:ext>
            </a:extLst>
          </p:cNvPr>
          <p:cNvSpPr txBox="1"/>
          <p:nvPr/>
        </p:nvSpPr>
        <p:spPr>
          <a:xfrm>
            <a:off x="6044013" y="1215484"/>
            <a:ext cx="7627382" cy="130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strike="noStrike" spc="-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 </a:t>
            </a:r>
          </a:p>
          <a:p>
            <a:pPr algn="ctr">
              <a:lnSpc>
                <a:spcPct val="150000"/>
              </a:lnSpc>
            </a:pPr>
            <a:r>
              <a:rPr lang="en-US" sz="2800" b="1" strike="noStrike" spc="-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Project- 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4000" y="570071"/>
            <a:ext cx="6637973" cy="7089458"/>
          </a:xfrm>
          <a:prstGeom prst="roundRect">
            <a:avLst>
              <a:gd name="adj" fmla="val 7466"/>
            </a:avLst>
          </a:prstGeom>
          <a:solidFill>
            <a:srgbClr val="063E5F"/>
          </a:solidFill>
          <a:ln/>
        </p:spPr>
      </p:sp>
      <p:sp>
        <p:nvSpPr>
          <p:cNvPr id="3" name="Text 1"/>
          <p:cNvSpPr/>
          <p:nvPr/>
        </p:nvSpPr>
        <p:spPr>
          <a:xfrm>
            <a:off x="780455" y="766882"/>
            <a:ext cx="4347448" cy="543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The Problem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845" y="1537930"/>
            <a:ext cx="309682" cy="3096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1491" y="1531501"/>
            <a:ext cx="2932867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Fragmented Information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451491" y="2067877"/>
            <a:ext cx="5554028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Government schemes are scattered across dozens of unconnected portals.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845" y="3113008"/>
            <a:ext cx="309682" cy="3096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51491" y="3106579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Complex Eligibility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451491" y="3642955"/>
            <a:ext cx="5554028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Criteria are written in bureaucratic language, difficult for citizens to parse.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845" y="4688086"/>
            <a:ext cx="309682" cy="3096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51491" y="4681657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No Personalization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451491" y="5218033"/>
            <a:ext cx="5554028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Generic portals offer zero filtering based on individual user profiles.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845" y="6263164"/>
            <a:ext cx="309682" cy="3096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51491" y="6256734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No Interactive Help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1451491" y="6793111"/>
            <a:ext cx="5554028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Citizens have no guided assistance when navigating application processes.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7574756" y="766882"/>
            <a:ext cx="4347448" cy="543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Our Motivation</a:t>
            </a:r>
            <a:endParaRPr lang="en-US" sz="3400" dirty="0"/>
          </a:p>
        </p:txBody>
      </p:sp>
      <p:sp>
        <p:nvSpPr>
          <p:cNvPr id="17" name="Text 11"/>
          <p:cNvSpPr/>
          <p:nvPr/>
        </p:nvSpPr>
        <p:spPr>
          <a:xfrm>
            <a:off x="7574756" y="1506974"/>
            <a:ext cx="6340554" cy="161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Millions of eligible citizens miss out on government benefits simply due to </a:t>
            </a: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lack of awareness and accessibility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YOJANTHA bridges this gap by offering a simple, intelligent, and personalized platform that brings the right schemes to the right people.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7574756" y="3341013"/>
            <a:ext cx="6340554" cy="1173718"/>
          </a:xfrm>
          <a:prstGeom prst="roundRect">
            <a:avLst>
              <a:gd name="adj" fmla="val 26391"/>
            </a:avLst>
          </a:prstGeom>
          <a:solidFill>
            <a:srgbClr val="B6D6FC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211" y="3646884"/>
            <a:ext cx="258128" cy="20645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45793" y="3589377"/>
            <a:ext cx="5463064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goal: Make government welfare truly accessible to every citizen, powered by AI.</a:t>
            </a:r>
            <a:endParaRPr lang="en-US" sz="16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3817B1-293C-5411-B734-E7B6DE7D2882}"/>
              </a:ext>
            </a:extLst>
          </p:cNvPr>
          <p:cNvSpPr/>
          <p:nvPr/>
        </p:nvSpPr>
        <p:spPr>
          <a:xfrm>
            <a:off x="12790449" y="7705492"/>
            <a:ext cx="1761892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41011599-7A6C-3787-20FC-1163F730AB02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3023158" y="78059"/>
            <a:ext cx="106668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4" y="1295162"/>
            <a:ext cx="4229457" cy="56392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85416" y="744260"/>
            <a:ext cx="5842516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YOJANTHA: The Solution</a:t>
            </a:r>
            <a:endParaRPr lang="en-US" sz="4100" dirty="0"/>
          </a:p>
        </p:txBody>
      </p:sp>
      <p:sp>
        <p:nvSpPr>
          <p:cNvPr id="5" name="Shape 2"/>
          <p:cNvSpPr/>
          <p:nvPr/>
        </p:nvSpPr>
        <p:spPr>
          <a:xfrm>
            <a:off x="6185416" y="1677353"/>
            <a:ext cx="7745968" cy="1160383"/>
          </a:xfrm>
          <a:prstGeom prst="roundRect">
            <a:avLst>
              <a:gd name="adj" fmla="val 2581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92704" y="1884640"/>
            <a:ext cx="2628067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Centralized Platform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392704" y="2323386"/>
            <a:ext cx="7331393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government schemes in one unified, easy-to-navigate portal.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185416" y="3021806"/>
            <a:ext cx="7745968" cy="1467445"/>
          </a:xfrm>
          <a:prstGeom prst="roundRect">
            <a:avLst>
              <a:gd name="adj" fmla="val 2041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92704" y="3229094"/>
            <a:ext cx="3453408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Profile-Based Personalization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6392704" y="3667839"/>
            <a:ext cx="733139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Schemes filtered and ranked based on the user's age, gender, state, and income.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185416" y="4673322"/>
            <a:ext cx="7745968" cy="1467445"/>
          </a:xfrm>
          <a:prstGeom prst="roundRect">
            <a:avLst>
              <a:gd name="adj" fmla="val 2041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92704" y="4880610"/>
            <a:ext cx="3205758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Gemini-Powered AI Chatbot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6392704" y="5319355"/>
            <a:ext cx="733139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 language assistance for eligibility queries and application guidance.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185416" y="6324838"/>
            <a:ext cx="7745968" cy="1160383"/>
          </a:xfrm>
          <a:prstGeom prst="roundRect">
            <a:avLst>
              <a:gd name="adj" fmla="val 2581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92704" y="6532126"/>
            <a:ext cx="2628067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Semantic Search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6392704" y="6970871"/>
            <a:ext cx="7331393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Vector-embedding-based search for context-aware, intent-driven results.</a:t>
            </a:r>
            <a:endParaRPr lang="en-US" sz="15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92FB20-325F-18A1-D4BF-4FA9DDFD5C03}"/>
              </a:ext>
            </a:extLst>
          </p:cNvPr>
          <p:cNvSpPr/>
          <p:nvPr/>
        </p:nvSpPr>
        <p:spPr>
          <a:xfrm>
            <a:off x="12790449" y="7694341"/>
            <a:ext cx="1761892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E523509E-AE30-8DE7-F892-7F1E374CA1B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3023158" y="78059"/>
            <a:ext cx="106668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4310" y="579120"/>
            <a:ext cx="4721662" cy="590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Tech Stack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9267" y="1466374"/>
            <a:ext cx="13031748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MERN Stack + Google Gemini AI — a modern, scalable, full-stack architecture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67" y="1895713"/>
            <a:ext cx="1372195" cy="13721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9267" y="3453527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Frontend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99267" y="3837623"/>
            <a:ext cx="3118723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React.js — dynamic, component-based Single Page Application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608" y="1895713"/>
            <a:ext cx="1372195" cy="13721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03608" y="3453527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Backend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103608" y="3837623"/>
            <a:ext cx="3118723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 + Express.js — RESTful API with MVC architecture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950" y="1895713"/>
            <a:ext cx="1372195" cy="13721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07950" y="3453527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7407950" y="3837623"/>
            <a:ext cx="3118723" cy="786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MongoDB — flexible NoSQL schema for schemes and user data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2291" y="1895713"/>
            <a:ext cx="1372195" cy="137219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12291" y="3453527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Authentication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0712291" y="3837623"/>
            <a:ext cx="3118723" cy="786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JWT + bcrypt — secure token-based login and password hashing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267" y="4921568"/>
            <a:ext cx="1372195" cy="137219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9267" y="6479381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AI Integration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799267" y="6863477"/>
            <a:ext cx="3118723" cy="786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Gemini API — powers chatbot, recommendations, and semantic search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B5EF92-605C-67C2-CA11-058623E29636}"/>
              </a:ext>
            </a:extLst>
          </p:cNvPr>
          <p:cNvSpPr/>
          <p:nvPr/>
        </p:nvSpPr>
        <p:spPr>
          <a:xfrm>
            <a:off x="12790449" y="7694341"/>
            <a:ext cx="1761892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4CD227CB-1DF5-E44E-B66D-B9BA9F17A5FA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13023158" y="78059"/>
            <a:ext cx="106668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5131" y="484823"/>
            <a:ext cx="4543425" cy="56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System Architecture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45131" y="1327904"/>
            <a:ext cx="12540020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layers work in concert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deliver a seamless, AI-enhanced user experience.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804" y="1719542"/>
            <a:ext cx="12436673" cy="53630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33592" y="6067303"/>
            <a:ext cx="2969824" cy="37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MongoDB ↔ Gemini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933592" y="4825844"/>
            <a:ext cx="2969824" cy="37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REST API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933592" y="3596924"/>
            <a:ext cx="2969824" cy="37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React UI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933592" y="2355465"/>
            <a:ext cx="2969824" cy="37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User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45131" y="7248406"/>
            <a:ext cx="12540020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user interaction flows from the React frontend through a secure REST API, queries MongoDB for scheme data, and routes through the Gemini AI layer to deliver personalized, intelligent responses.</a:t>
            </a: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F8B685-0061-87F6-B03B-452BB8EF2E9F}"/>
              </a:ext>
            </a:extLst>
          </p:cNvPr>
          <p:cNvSpPr/>
          <p:nvPr/>
        </p:nvSpPr>
        <p:spPr>
          <a:xfrm>
            <a:off x="12790449" y="7694341"/>
            <a:ext cx="1761892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D9B380F1-BE98-4DD3-2234-39234DA7B787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3023158" y="78059"/>
            <a:ext cx="106668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7302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Key Features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309" y="2519005"/>
            <a:ext cx="433268" cy="4332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2326" y="2593419"/>
            <a:ext cx="3486745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User Authentication &amp; Profile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462326" y="3435787"/>
            <a:ext cx="348674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JWT-based login with detailed profile management for personalized experiences.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9819" y="2519005"/>
            <a:ext cx="433268" cy="4332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23836" y="259341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AI Chatbot Assistance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923836" y="3079552"/>
            <a:ext cx="348674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Conversational AI to answer eligibility questions and guide users through applications.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1329" y="2519005"/>
            <a:ext cx="433268" cy="4332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85346" y="2593419"/>
            <a:ext cx="3486745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Personalized Recommendations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385346" y="3435787"/>
            <a:ext cx="348674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Schemes ranked by relevance to each user's unique demographic and socioeconomic profile.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309" y="5255895"/>
            <a:ext cx="433268" cy="4332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2326" y="53303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Semantic Search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462326" y="5816441"/>
            <a:ext cx="348674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embeddings enable intent-driven search, far beyond simple keyword matching.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9819" y="5255895"/>
            <a:ext cx="433268" cy="4332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23836" y="53303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Scheme Tracking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923836" y="5816441"/>
            <a:ext cx="348674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 can mark schemes as Interested or Applied, tracking their journey end-to-end.</a:t>
            </a:r>
            <a:endParaRPr lang="en-US" sz="17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18A41B-E786-0A18-A044-78DD2A11AC16}"/>
              </a:ext>
            </a:extLst>
          </p:cNvPr>
          <p:cNvSpPr/>
          <p:nvPr/>
        </p:nvSpPr>
        <p:spPr>
          <a:xfrm>
            <a:off x="12790449" y="7694341"/>
            <a:ext cx="1761892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B4EB7A0A-A29B-66F4-E7A2-C17495D49AB7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13023158" y="78059"/>
            <a:ext cx="106668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7110" y="853916"/>
            <a:ext cx="1128474" cy="357068"/>
          </a:xfrm>
          <a:prstGeom prst="roundRect">
            <a:avLst>
              <a:gd name="adj" fmla="val 65987"/>
            </a:avLst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862" y="953929"/>
            <a:ext cx="157043" cy="1570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0368" y="912733"/>
            <a:ext cx="657463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CORE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7110" y="1282065"/>
            <a:ext cx="4328398" cy="1937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Personalized Recommendation Engine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687110" y="3397687"/>
            <a:ext cx="4328398" cy="2095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engine extracts key user attributes — </a:t>
            </a:r>
            <a:r>
              <a:rPr lang="en-US" sz="15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age, gender, state, income category</a:t>
            </a: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and constructs a structured prompt for Google Gemini AI. The model filters the scheme database, ranks results by relevance, and returns personalized matches with clear reasoning.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7110" y="5693093"/>
            <a:ext cx="4328398" cy="1682472"/>
          </a:xfrm>
          <a:prstGeom prst="roundRect">
            <a:avLst>
              <a:gd name="adj" fmla="val 17506"/>
            </a:avLst>
          </a:prstGeom>
          <a:solidFill>
            <a:srgbClr val="B6FCB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444" y="5987653"/>
            <a:ext cx="245388" cy="1963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166" y="5920026"/>
            <a:ext cx="3494008" cy="1197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Result: Users see only the schemes they are actually eligible for, with plain-language explanations of why each scheme applies to them.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1289" y="2203966"/>
            <a:ext cx="8350210" cy="3821549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23363" y="3158104"/>
            <a:ext cx="536870" cy="5368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945044" y="5109964"/>
            <a:ext cx="1567662" cy="31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Show Results</a:t>
            </a:r>
            <a:endParaRPr lang="en-US" sz="2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57912" y="3159111"/>
            <a:ext cx="536870" cy="53687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969360" y="5109964"/>
            <a:ext cx="1567662" cy="31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Filter &amp; Rank</a:t>
            </a:r>
            <a:endParaRPr lang="en-US" sz="2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92966" y="3159111"/>
            <a:ext cx="536870" cy="53687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004415" y="5109964"/>
            <a:ext cx="1567662" cy="31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Build Prompt</a:t>
            </a:r>
            <a:endParaRPr lang="en-US" sz="20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17283" y="3159111"/>
            <a:ext cx="536870" cy="53687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996519" y="4951084"/>
            <a:ext cx="1567662" cy="63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Extract Profile</a:t>
            </a:r>
            <a:endParaRPr lang="en-US" sz="2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5772E8-E8E4-6983-DA84-55DDEA41DE36}"/>
              </a:ext>
            </a:extLst>
          </p:cNvPr>
          <p:cNvSpPr/>
          <p:nvPr/>
        </p:nvSpPr>
        <p:spPr>
          <a:xfrm>
            <a:off x="12790449" y="7694341"/>
            <a:ext cx="1761892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277C8242-E601-7E3E-EE0D-463C729EF3AE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13023158" y="78059"/>
            <a:ext cx="106668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1032986"/>
            <a:ext cx="4246126" cy="42461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0693" y="1948934"/>
            <a:ext cx="2202656" cy="407075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0590" y="2065853"/>
            <a:ext cx="173236" cy="1732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30384" y="2013823"/>
            <a:ext cx="1683068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GEMINI-POWERED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5540693" y="244256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AI Chatbot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5540693" y="3371850"/>
            <a:ext cx="833889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YOJANTHA chatbot handles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 language queries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from citizens — answering questions about eligibility criteria, application deadlines, and required documents in plain, accessible language.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58309" y="5766554"/>
            <a:ext cx="6448544" cy="1673662"/>
          </a:xfrm>
          <a:prstGeom prst="roundRect">
            <a:avLst>
              <a:gd name="adj" fmla="val 19418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05364" y="6013609"/>
            <a:ext cx="293227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System Prompt Control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05364" y="6499741"/>
            <a:ext cx="595443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 system prompts keep responses accurate and scoped to government schemes.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423428" y="5766554"/>
            <a:ext cx="6448663" cy="1673662"/>
          </a:xfrm>
          <a:prstGeom prst="roundRect">
            <a:avLst>
              <a:gd name="adj" fmla="val 19418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70483" y="60136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Context Retention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670483" y="6499741"/>
            <a:ext cx="595455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Maintains conversation context across multiple turns for coherent assistance.</a:t>
            </a:r>
            <a:endParaRPr lang="en-US" sz="1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264138-6316-8453-9C61-B88AF8DBEFEE}"/>
              </a:ext>
            </a:extLst>
          </p:cNvPr>
          <p:cNvSpPr/>
          <p:nvPr/>
        </p:nvSpPr>
        <p:spPr>
          <a:xfrm>
            <a:off x="12790449" y="7694341"/>
            <a:ext cx="1761892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D815B446-E6A6-BF4B-A8E0-493E3A379B81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3023158" y="78059"/>
            <a:ext cx="106668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6259" y="472678"/>
            <a:ext cx="7817882" cy="545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Semantic Search via Vector Embeddings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91114" y="1272183"/>
            <a:ext cx="12048173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Going far beyond keyword matching — understanding </a:t>
            </a:r>
            <a:r>
              <a:rPr lang="en-US" sz="1300" b="1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intent</a:t>
            </a: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surface truly relevant schemes.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114" y="1792129"/>
            <a:ext cx="5821799" cy="582179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114" y="1792129"/>
            <a:ext cx="5821799" cy="58217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25107" y="3538418"/>
            <a:ext cx="2217896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Why Semantic Search?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7525107" y="3938111"/>
            <a:ext cx="5821799" cy="70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keyword search fails when users phrase queries differently from how schemes are described. Vector embeddings capture </a:t>
            </a:r>
            <a:r>
              <a:rPr lang="en-US" sz="13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meaning</a:t>
            </a: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not just lexical overlap.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525107" y="4783574"/>
            <a:ext cx="5821799" cy="1068110"/>
          </a:xfrm>
          <a:prstGeom prst="roundRect">
            <a:avLst>
              <a:gd name="adj" fmla="val 23296"/>
            </a:avLst>
          </a:prstGeom>
          <a:solidFill>
            <a:srgbClr val="B6D6FC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961" y="5020985"/>
            <a:ext cx="207288" cy="1658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103" y="4951928"/>
            <a:ext cx="5116949" cy="70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Example: A query for "help for farmers" correctly surfaces "PM-KISAN" even if those exact words don't appear in the query.</a:t>
            </a:r>
            <a:endParaRPr lang="en-US" sz="13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233884-0AFE-178D-67C1-1048D5289466}"/>
              </a:ext>
            </a:extLst>
          </p:cNvPr>
          <p:cNvSpPr/>
          <p:nvPr/>
        </p:nvSpPr>
        <p:spPr>
          <a:xfrm>
            <a:off x="12790449" y="7694341"/>
            <a:ext cx="1761892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8B62647C-76EA-C640-382D-3B56D22E24E5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13023158" y="78059"/>
            <a:ext cx="106668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9328" y="458153"/>
            <a:ext cx="6331744" cy="52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User Journey: Accessing Yojantha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536978" y="1215152"/>
            <a:ext cx="11556444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seamless, AI-guided path to government schemes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978" y="1567220"/>
            <a:ext cx="10485120" cy="58521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978" y="1567220"/>
            <a:ext cx="10485120" cy="5852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6978" y="7550825"/>
            <a:ext cx="11556444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initial interaction to application tracking, Yojantha provides intuitive navigation and comprehensive support at every step.</a:t>
            </a:r>
            <a:endParaRPr lang="en-US" sz="12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0722B3-0619-48BD-D188-CC86C8AD14C1}"/>
              </a:ext>
            </a:extLst>
          </p:cNvPr>
          <p:cNvSpPr/>
          <p:nvPr/>
        </p:nvSpPr>
        <p:spPr>
          <a:xfrm>
            <a:off x="12790449" y="7694341"/>
            <a:ext cx="1761892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D46214FA-5544-4FA2-9B05-356C0D482EFC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3023158" y="78059"/>
            <a:ext cx="106668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3183" y="785574"/>
            <a:ext cx="5603915" cy="690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Challenges &amp; Solutions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34616" y="1882497"/>
            <a:ext cx="1316116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Overcoming </a:t>
            </a:r>
            <a:r>
              <a:rPr lang="en-US" sz="16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hurdles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deliver a robust and reliable platform.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616" y="2441734"/>
            <a:ext cx="419695" cy="4196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4616" y="3115508"/>
            <a:ext cx="2769156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Gemini API Rate Limits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34616" y="3582710"/>
            <a:ext cx="6453545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Implemented caching for frequent requests and introduced exponential backoff with retry logic to manage API calls efficiently and prevent service interruptions.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2240" y="2441734"/>
            <a:ext cx="419695" cy="4196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2240" y="3115508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Diverse Data Formats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7442240" y="3582710"/>
            <a:ext cx="6453545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Developed NLP-driven data ingestion pipelines to extract, normalize, and standardize scheme information from unstructured government documents into a unified schema.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616" y="4980861"/>
            <a:ext cx="419695" cy="4196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4616" y="5654635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User Data Privacy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734616" y="6121837"/>
            <a:ext cx="6453545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Ensured end-to-end encryption, anonymization techniques for sensitive fields, robust access controls, and strict adherence to privacy best practices.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2240" y="4980861"/>
            <a:ext cx="419695" cy="41969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2240" y="5654635"/>
            <a:ext cx="3591878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Vector Embedding Scalability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7442240" y="6121837"/>
            <a:ext cx="6453545" cy="132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Optimized embedding storage and retrieval using MongoDB's indexing capabilities and explored approximate nearest neighbor (ANN) search for efficient semantic matching at scale.</a:t>
            </a:r>
            <a:endParaRPr lang="en-US" sz="16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511D3F-AE73-DD62-1E1E-3F4ABD4FF638}"/>
              </a:ext>
            </a:extLst>
          </p:cNvPr>
          <p:cNvSpPr/>
          <p:nvPr/>
        </p:nvSpPr>
        <p:spPr>
          <a:xfrm>
            <a:off x="12790449" y="7694341"/>
            <a:ext cx="1761892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B0A5DEB3-1807-7147-01CB-47060188F63F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13023158" y="78059"/>
            <a:ext cx="106668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2177058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894" y="82867"/>
            <a:ext cx="3366492" cy="19077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32546" y="2608064"/>
            <a:ext cx="4365308" cy="545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Impact &amp; Outcomes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291114" y="3344108"/>
            <a:ext cx="12048173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Tangible results driving welfare accessibility and efficiency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291114" y="4866322"/>
            <a:ext cx="3910251" cy="547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3400+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2154912" y="5591770"/>
            <a:ext cx="2182654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Schemes Covered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91114" y="5940742"/>
            <a:ext cx="3910251" cy="70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comprehensive database ensuring no eligible citizen misses out on available opportunities. </a:t>
            </a:r>
            <a:r>
              <a:rPr lang="en-US" sz="13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(Estimated Target)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60075" y="4866322"/>
            <a:ext cx="3910251" cy="547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75%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5869781" y="5591770"/>
            <a:ext cx="2890837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Reduction in Application Time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360075" y="5940742"/>
            <a:ext cx="3910251" cy="70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Streamlining complex application processes, making them faster and significantly less burdensome. </a:t>
            </a:r>
            <a:r>
              <a:rPr lang="en-US" sz="13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(Estimated Target)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429036" y="4866322"/>
            <a:ext cx="3910251" cy="547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60%</a:t>
            </a:r>
            <a:endParaRPr lang="en-US" sz="4300" dirty="0"/>
          </a:p>
        </p:txBody>
      </p:sp>
      <p:sp>
        <p:nvSpPr>
          <p:cNvPr id="13" name="Text 10"/>
          <p:cNvSpPr/>
          <p:nvPr/>
        </p:nvSpPr>
        <p:spPr>
          <a:xfrm>
            <a:off x="10292834" y="5591770"/>
            <a:ext cx="2182654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Awareness Boost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429036" y="5940742"/>
            <a:ext cx="3910251" cy="70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Significantly bridging the information gap, connecting more citizens with vital government schemes. </a:t>
            </a:r>
            <a:r>
              <a:rPr lang="en-US" sz="13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(Estimated Target)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60075" y="5917883"/>
            <a:ext cx="3910251" cy="547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endParaRPr lang="en-US" sz="4300" dirty="0"/>
          </a:p>
        </p:txBody>
      </p:sp>
      <p:sp>
        <p:nvSpPr>
          <p:cNvPr id="16" name="Text 13"/>
          <p:cNvSpPr/>
          <p:nvPr/>
        </p:nvSpPr>
        <p:spPr>
          <a:xfrm>
            <a:off x="6216968" y="6643330"/>
            <a:ext cx="2196346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360075" y="6992302"/>
            <a:ext cx="3910251" cy="70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666855-4D59-307C-6961-325ED66B707B}"/>
              </a:ext>
            </a:extLst>
          </p:cNvPr>
          <p:cNvSpPr/>
          <p:nvPr/>
        </p:nvSpPr>
        <p:spPr>
          <a:xfrm>
            <a:off x="12790449" y="7694341"/>
            <a:ext cx="1761892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95368" y="614601"/>
            <a:ext cx="10639544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YOJANTHA: Bridging Gaps, Empowering Futures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3416" y="1569839"/>
            <a:ext cx="13303568" cy="56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YOJANTHA represents a significant step toward a more accessible and equitable welfare system, leveraging cutting-edge AI to serve every citizen.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3416" y="2325052"/>
            <a:ext cx="4323874" cy="1942743"/>
          </a:xfrm>
          <a:prstGeom prst="roundRect">
            <a:avLst>
              <a:gd name="adj" fmla="val 1463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0584" y="2522220"/>
            <a:ext cx="2542580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Impactful Accessibility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60584" y="2933343"/>
            <a:ext cx="3929539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Centralized, personalized access to all government schemes, eliminating information fragmentation.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153144" y="2325052"/>
            <a:ext cx="4323993" cy="1942743"/>
          </a:xfrm>
          <a:prstGeom prst="roundRect">
            <a:avLst>
              <a:gd name="adj" fmla="val 1463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50312" y="2522220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AI-Driven Innovation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350312" y="2933343"/>
            <a:ext cx="3929658" cy="1137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Gemini AI powers intuitive recommendations, natural language chatbot assistance, and precise semantic search.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642991" y="2325052"/>
            <a:ext cx="4323874" cy="1942743"/>
          </a:xfrm>
          <a:prstGeom prst="roundRect">
            <a:avLst>
              <a:gd name="adj" fmla="val 1463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0158" y="2522220"/>
            <a:ext cx="310907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Future-Proof Empowerment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40158" y="2933343"/>
            <a:ext cx="3929539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scalable platform poised to connect millions more to essential benefits, fostering true social equity.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3416" y="4454366"/>
            <a:ext cx="13303568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YOJANTHA is more than just a platform; it's a commitment to ensuring that no citizen is left behind due to lack of awareness or complex processes. We envision a future where every eligible individual can easily discover and apply for the support they deserve, powered by intelligence and empathy.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3416" y="5556052"/>
            <a:ext cx="3991094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hnschrift Light SemiCondensed" panose="020B0502040204020203" pitchFamily="34" charset="0"/>
                <a:ea typeface="Barlow Bold" pitchFamily="34" charset="-122"/>
                <a:cs typeface="Barlow Bold" pitchFamily="34" charset="-120"/>
              </a:rPr>
              <a:t>Future Scope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63416" y="6303645"/>
            <a:ext cx="13303568" cy="1311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Multilingual support to make the platform accessible across more languages</a:t>
            </a:r>
            <a:endParaRPr lang="en-US" sz="145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app development for easier access on smartphones and tablets</a:t>
            </a:r>
            <a:endParaRPr lang="en-US" sz="145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 with DigiLocker to simplify document verification and submission</a:t>
            </a:r>
            <a:endParaRPr lang="en-US" sz="145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State-level scheme APIs to expand coverage with localized welfare programs</a:t>
            </a:r>
            <a:endParaRPr lang="en-US" sz="14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D2C332-0DFA-F644-9FA0-B2D9D848D9C4}"/>
              </a:ext>
            </a:extLst>
          </p:cNvPr>
          <p:cNvSpPr/>
          <p:nvPr/>
        </p:nvSpPr>
        <p:spPr>
          <a:xfrm>
            <a:off x="12790449" y="7694341"/>
            <a:ext cx="1761892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6D48F8DD-3CD3-0209-FE96-ED660FDE38D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3023158" y="78059"/>
            <a:ext cx="106668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4346</TotalTime>
  <Words>1068</Words>
  <Application>Microsoft Office PowerPoint</Application>
  <PresentationFormat>Custom</PresentationFormat>
  <Paragraphs>129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Bahnschrift Light SemiCondensed</vt:lpstr>
      <vt:lpstr>Arial</vt:lpstr>
      <vt:lpstr>Times New Roman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DAMODARA LAKSHMI MADHULIKA</dc:creator>
  <cp:lastModifiedBy>DAMODARA LAKSHMI MADHULIKA</cp:lastModifiedBy>
  <cp:revision>6</cp:revision>
  <dcterms:created xsi:type="dcterms:W3CDTF">2026-04-22T14:18:04Z</dcterms:created>
  <dcterms:modified xsi:type="dcterms:W3CDTF">2026-05-03T19:44:09Z</dcterms:modified>
</cp:coreProperties>
</file>